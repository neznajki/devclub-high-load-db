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media/image9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lv-LV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lv-LV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lv-LV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lv-LV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lv-LV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rmAutofit/>
          </a:bodyPr>
          <a:p>
            <a:pPr algn="r">
              <a:lnSpc>
                <a:spcPct val="100000"/>
              </a:lnSpc>
            </a:pPr>
            <a:fld id="{06748C99-616D-47EB-8ABF-AD7D2BD1ED38}" type="slidenum">
              <a:rPr b="0" lang="lv-LV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lv-LV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lv-LV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lv-LV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lv-LV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lv-LV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lv-LV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lv-LV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lv-LV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lv-LV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lv-LV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lv-LV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lv-LV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lv-LV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lv-LV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lv-LV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lv-LV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lv-LV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lv-LV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lv-LV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lv-LV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rmAutofit/>
          </a:bodyPr>
          <a:p>
            <a:pPr algn="r">
              <a:lnSpc>
                <a:spcPct val="100000"/>
              </a:lnSpc>
            </a:pPr>
            <a:fld id="{FC15BF1A-8306-4913-A969-41927595B488}" type="slidenum">
              <a:rPr b="0" lang="lv-LV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lv-LV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hyperlink" Target="https://github.com/Neznajki/devclub-high-load-db" TargetMode="External"/><Relationship Id="rId2" Type="http://schemas.openxmlformats.org/officeDocument/2006/relationships/hyperlink" Target="https://www.linkedin.com/in/ml-698627181/" TargetMode="External"/><Relationship Id="rId3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Shape 1"/>
          <p:cNvSpPr txBox="1"/>
          <p:nvPr/>
        </p:nvSpPr>
        <p:spPr>
          <a:xfrm>
            <a:off x="95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rmAutofit/>
          </a:bodyPr>
          <a:p>
            <a:pPr algn="ctr">
              <a:lnSpc>
                <a:spcPct val="100000"/>
              </a:lnSpc>
            </a:pPr>
            <a:r>
              <a:rPr b="0" lang="lv-LV" sz="5200" spc="-1" strike="noStrike">
                <a:solidFill>
                  <a:srgbClr val="000000"/>
                </a:solidFill>
                <a:latin typeface="Arial"/>
                <a:ea typeface="Arial"/>
              </a:rPr>
              <a:t>High Load System DB</a:t>
            </a:r>
            <a:endParaRPr b="0" lang="lv-LV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Shape 2"/>
          <p:cNvSpPr txBox="1"/>
          <p:nvPr/>
        </p:nvSpPr>
        <p:spPr>
          <a:xfrm>
            <a:off x="311760" y="2834280"/>
            <a:ext cx="8520120" cy="79236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 algn="ctr">
              <a:lnSpc>
                <a:spcPct val="100000"/>
              </a:lnSpc>
            </a:pPr>
            <a:r>
              <a:rPr b="0" lang="lv-LV" sz="2800" spc="-1" strike="noStrike">
                <a:solidFill>
                  <a:srgbClr val="595959"/>
                </a:solidFill>
                <a:latin typeface="Arial"/>
                <a:ea typeface="Arial"/>
              </a:rPr>
              <a:t>Database problems and some ways to solve them</a:t>
            </a:r>
            <a:endParaRPr b="0" lang="lv-LV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Introduction about me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Hello I am Maris Ločmelis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I am full stack developer so don't hit me hard when I miss something.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What types of DB are there.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SQL, NoSQL, In Memory (redis), SingleFileDB(XML, JSON) ... 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ask chat GPT he will help here.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How High Load is related to Database ?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Development is IT (Information Technologies) So DB is main part of industry as it stores Information,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and you can't have high load system without information (it will be high waste system).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5019120" y="2497320"/>
            <a:ext cx="2396880" cy="2470680"/>
          </a:xfrm>
          <a:prstGeom prst="rect">
            <a:avLst/>
          </a:prstGeom>
          <a:ln>
            <a:noFill/>
          </a:ln>
        </p:spPr>
      </p:pic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144000" y="2592000"/>
            <a:ext cx="4581720" cy="26380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00000"/>
              </a:lnSpc>
            </a:pPr>
            <a:r>
              <a:rPr b="0" lang="lv-LV" sz="2500" spc="-1" strike="noStrike">
                <a:solidFill>
                  <a:srgbClr val="000000"/>
                </a:solidFill>
                <a:latin typeface="Arial"/>
                <a:ea typeface="Arial"/>
              </a:rPr>
              <a:t>More useful info about DB types</a:t>
            </a:r>
            <a:endParaRPr b="0" lang="lv-LV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15000"/>
              </a:lnSpc>
            </a:pPr>
            <a:r>
              <a:rPr b="1" lang="lv-LV" sz="1200" spc="-1" strike="noStrike">
                <a:solidFill>
                  <a:srgbClr val="595959"/>
                </a:solidFill>
                <a:latin typeface="Arial"/>
                <a:ea typeface="Arial"/>
              </a:rPr>
              <a:t>ACID vs BASE ACID (traditional SQL databases) Ensures strong consistency and reliability:</a:t>
            </a:r>
            <a:endParaRPr b="1" lang="lv-LV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1" lang="lv-LV" sz="1200" spc="-1" strike="noStrike">
                <a:solidFill>
                  <a:srgbClr val="595959"/>
                </a:solidFill>
                <a:latin typeface="Arial"/>
                <a:ea typeface="Arial"/>
              </a:rPr>
              <a:t>(A)tomicity + (C)onsistency + (I)solation + (D)urability</a:t>
            </a:r>
            <a:endParaRPr b="1" lang="lv-LV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1" lang="lv-LV" sz="1200" spc="-1" strike="noStrike">
                <a:solidFill>
                  <a:srgbClr val="595959"/>
                </a:solidFill>
                <a:latin typeface="Arial"/>
                <a:ea typeface="Arial"/>
              </a:rPr>
              <a:t>Used by: MySQL, PostgreSQL, Oracle, SQL Server, etc.</a:t>
            </a:r>
            <a:endParaRPr b="1" lang="lv-LV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endParaRPr b="1" lang="lv-LV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1" lang="lv-LV" sz="1200" spc="-1" strike="noStrike">
                <a:solidFill>
                  <a:srgbClr val="595959"/>
                </a:solidFill>
                <a:latin typeface="Arial"/>
                <a:ea typeface="Arial"/>
              </a:rPr>
              <a:t>BASE (mostly NoSQL / distributed systems) Designed for horizontal scaling and high availability:</a:t>
            </a:r>
            <a:endParaRPr b="1" lang="lv-LV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1" lang="lv-LV" sz="1200" spc="-1" strike="noStrike">
                <a:solidFill>
                  <a:srgbClr val="595959"/>
                </a:solidFill>
                <a:latin typeface="Arial"/>
                <a:ea typeface="Arial"/>
              </a:rPr>
              <a:t>(B)asically + (A)vailable + (S)oft-state + (E)ventually consistent</a:t>
            </a:r>
            <a:endParaRPr b="1" lang="lv-LV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endParaRPr b="1" lang="lv-LV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r>
              <a:rPr b="1" lang="lv-LV" sz="1200" spc="-1" strike="noStrike">
                <a:solidFill>
                  <a:srgbClr val="595959"/>
                </a:solidFill>
                <a:latin typeface="Arial"/>
                <a:ea typeface="Arial"/>
              </a:rPr>
              <a:t>Used by: Cassandra, DynamoDB, Riak, Couchbase, etc.</a:t>
            </a:r>
            <a:endParaRPr b="1" lang="lv-LV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00000"/>
              </a:lnSpc>
            </a:pPr>
            <a:r>
              <a:rPr b="0" lang="lv-LV" sz="2500" spc="-1" strike="noStrike">
                <a:solidFill>
                  <a:srgbClr val="000000"/>
                </a:solidFill>
                <a:latin typeface="Arial"/>
                <a:ea typeface="Arial"/>
              </a:rPr>
              <a:t>Key Problems</a:t>
            </a:r>
            <a:endParaRPr b="0" lang="lv-LV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85000"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1. Hard Drives can give a heat (bad sectors // no time to write // during backups) right now not so huge problem due SSD.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2. Master Slave Replication things (Primary Keys (Long, Int, UUID), scaling data sync).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3. Deadlocks on huge request amount.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4. Cache Memory outage.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5. Temporary tables.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6. Complex Joins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8. Wrong field data types.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r>
              <a:rPr b="0" lang="lv-LV" sz="2500" spc="-1" strike="noStrike">
                <a:solidFill>
                  <a:srgbClr val="000000"/>
                </a:solidFill>
                <a:latin typeface="Arial"/>
              </a:rPr>
              <a:t>Master Slave</a:t>
            </a:r>
            <a:endParaRPr b="0" lang="lv-LV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2628720" y="864000"/>
            <a:ext cx="6203160" cy="4163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r>
              <a:rPr b="0" lang="lv-LV" sz="2500" spc="-1" strike="noStrike">
                <a:solidFill>
                  <a:srgbClr val="000000"/>
                </a:solidFill>
                <a:latin typeface="Arial"/>
              </a:rPr>
              <a:t>Index problems</a:t>
            </a:r>
            <a:endParaRPr b="0" lang="lv-LV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Indexes takes time to save and can flood your cache (it may result as deadlocks)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Indexes should be sorted.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Huge indexes.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MySQL data structure, potentially all are similar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Usually primary take away and what you should understand picking technology is how DB stores the data I will explain on MySQL example (Other SQL DB like PostgreSQL or Oracle looks similar with some other functions but most will be covered as same.)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r>
              <a:rPr b="0" lang="lv-LV" sz="2800" spc="-1" strike="noStrike">
                <a:solidFill>
                  <a:srgbClr val="000000"/>
                </a:solidFill>
                <a:latin typeface="Arial"/>
              </a:rPr>
              <a:t>MySQL data structure.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Shape 2"/>
          <p:cNvSpPr txBox="1"/>
          <p:nvPr/>
        </p:nvSpPr>
        <p:spPr>
          <a:xfrm>
            <a:off x="288000" y="108000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you describe fields (each field have type and limits on containing value)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2520000" y="1360800"/>
            <a:ext cx="5951160" cy="36792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r>
              <a:rPr b="0" lang="lv-LV" sz="2800" spc="-1" strike="noStrike">
                <a:solidFill>
                  <a:srgbClr val="000000"/>
                </a:solidFill>
                <a:latin typeface="Arial"/>
              </a:rPr>
              <a:t>MySQL data structure.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Each row reserves maximum field size on HD even if they are null (to jump between rows based on pure math)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Text Fields are storing Pointer to data that besides out of table (it is optimal but will slow down on filtering texts)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Data is pure math the more Bytes it takes the more time it makes for all operations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r>
              <a:rPr b="0" lang="lv-LV" sz="2500" spc="-1" strike="noStrike">
                <a:solidFill>
                  <a:srgbClr val="000000"/>
                </a:solidFill>
                <a:latin typeface="Arial"/>
              </a:rPr>
              <a:t>Indexes</a:t>
            </a:r>
            <a:endParaRPr b="0" lang="lv-LV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Indexes takes time to save and can flood your cache (it may result as deadlocks)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Indexes should be sorted.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4104000" y="1609920"/>
            <a:ext cx="3040200" cy="30700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Useful Functions for debugging.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67000"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SQL usually have multiple ways to debug the application I may not name all but I will touch best ones.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1. Explain Analyze (Query here)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2. SHOW PROCESSLIST.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3. slow_query_log = 1 // best to log all queries (5-10 minutes) than group analyze total execution time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4. KILL PROCESSID (to identify deadlock parent usually oldest one but not always.)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5. Usually low resources can lead to deadlocks (waiting for cache to get free. so resource analyze like top can be good also)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How you could optimize something ?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1. Most common and probably best hotfix is caching results and resetting on change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2. Templates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3. Create Agregation tables on complex grouping logic tables (Full Table Scan)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4. Insertion (Batches. Transactions.)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4955760" y="3024000"/>
            <a:ext cx="2676240" cy="14950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CRC32  string // text Optimization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Google Shape;110;p22" descr=""/>
          <p:cNvPicPr/>
          <p:nvPr/>
        </p:nvPicPr>
        <p:blipFill>
          <a:blip r:embed="rId1"/>
          <a:stretch/>
        </p:blipFill>
        <p:spPr>
          <a:xfrm>
            <a:off x="311760" y="944640"/>
            <a:ext cx="7423200" cy="1863360"/>
          </a:xfrm>
          <a:prstGeom prst="rect">
            <a:avLst/>
          </a:prstGeom>
          <a:ln>
            <a:noFill/>
          </a:ln>
        </p:spPr>
      </p:pic>
      <p:pic>
        <p:nvPicPr>
          <p:cNvPr id="115" name="Google Shape;111;p22" descr=""/>
          <p:cNvPicPr/>
          <p:nvPr/>
        </p:nvPicPr>
        <p:blipFill>
          <a:blip r:embed="rId2"/>
          <a:stretch/>
        </p:blipFill>
        <p:spPr>
          <a:xfrm>
            <a:off x="311760" y="2808000"/>
            <a:ext cx="6888240" cy="2772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Slow Query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Google Shape;118;p23" descr=""/>
          <p:cNvPicPr/>
          <p:nvPr/>
        </p:nvPicPr>
        <p:blipFill>
          <a:blip r:embed="rId1"/>
          <a:stretch/>
        </p:blipFill>
        <p:spPr>
          <a:xfrm>
            <a:off x="2448000" y="0"/>
            <a:ext cx="6669000" cy="5112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r>
              <a:rPr b="0" lang="lv-LV" sz="2500" spc="-1" strike="noStrike">
                <a:solidFill>
                  <a:srgbClr val="000000"/>
                </a:solidFill>
                <a:latin typeface="Arial"/>
              </a:rPr>
              <a:t>Create Agregate Table </a:t>
            </a:r>
            <a:endParaRPr b="0" lang="lv-LV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401040" y="942480"/>
            <a:ext cx="8430840" cy="36522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r>
              <a:rPr b="0" lang="lv-LV" sz="2500" spc="-1" strike="noStrike">
                <a:solidFill>
                  <a:srgbClr val="000000"/>
                </a:solidFill>
                <a:latin typeface="Arial"/>
              </a:rPr>
              <a:t>Insert missing data to agrigate Table</a:t>
            </a:r>
            <a:endParaRPr b="0" lang="lv-LV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endParaRPr b="0" lang="lv-LV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1656000" y="864000"/>
            <a:ext cx="6768000" cy="42526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r>
              <a:rPr b="0" lang="lv-LV" sz="2500" spc="-1" strike="noStrike">
                <a:solidFill>
                  <a:srgbClr val="000000"/>
                </a:solidFill>
                <a:latin typeface="Arial"/>
              </a:rPr>
              <a:t>Last Query</a:t>
            </a:r>
            <a:endParaRPr b="0" lang="lv-LV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144000" y="1656000"/>
            <a:ext cx="8957520" cy="1656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What is Large DB ?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Shape 2"/>
          <p:cNvSpPr txBox="1"/>
          <p:nvPr/>
        </p:nvSpPr>
        <p:spPr>
          <a:xfrm>
            <a:off x="216000" y="108000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small DB &lt; 1 GB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1 GB &gt; </a:t>
            </a: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average DB &lt; 1 TB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1 TB &gt; Big DB &lt; ... (it hard but there is point when it comes to huge)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r>
              <a:rPr b="0" lang="lv-LV" sz="2500" spc="-1" strike="noStrike">
                <a:solidFill>
                  <a:srgbClr val="000000"/>
                </a:solidFill>
                <a:latin typeface="Arial"/>
              </a:rPr>
              <a:t>What you should expect and do</a:t>
            </a:r>
            <a:endParaRPr b="0" lang="lv-LV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000000"/>
                </a:solidFill>
                <a:latin typeface="Arial"/>
              </a:rPr>
              <a:t>Small DB. Anything should work fine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000000"/>
                </a:solidFill>
                <a:latin typeface="Arial"/>
              </a:rPr>
              <a:t>Average DB. Don’t be fanatic with group logic add master slaves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000000"/>
                </a:solidFill>
                <a:latin typeface="Arial"/>
              </a:rPr>
              <a:t>Large DB. Partitions, optimizations like CRC32 agregation tables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000000"/>
                </a:solidFill>
                <a:latin typeface="Arial"/>
              </a:rPr>
              <a:t>Huge DB. Hire Senior DB architect and hope he will do something.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4582080" y="1584000"/>
            <a:ext cx="241920" cy="225360"/>
          </a:xfrm>
          <a:prstGeom prst="rect">
            <a:avLst/>
          </a:prstGeom>
          <a:ln>
            <a:noFill/>
          </a:ln>
        </p:spPr>
      </p:pic>
      <p:pic>
        <p:nvPicPr>
          <p:cNvPr id="132" name="" descr=""/>
          <p:cNvPicPr/>
          <p:nvPr/>
        </p:nvPicPr>
        <p:blipFill>
          <a:blip r:embed="rId2"/>
          <a:stretch/>
        </p:blipFill>
        <p:spPr>
          <a:xfrm>
            <a:off x="7234920" y="1872000"/>
            <a:ext cx="469080" cy="437040"/>
          </a:xfrm>
          <a:prstGeom prst="rect">
            <a:avLst/>
          </a:prstGeom>
          <a:ln>
            <a:noFill/>
          </a:ln>
        </p:spPr>
      </p:pic>
      <p:pic>
        <p:nvPicPr>
          <p:cNvPr id="133" name="" descr=""/>
          <p:cNvPicPr/>
          <p:nvPr/>
        </p:nvPicPr>
        <p:blipFill>
          <a:blip r:embed="rId3"/>
          <a:stretch/>
        </p:blipFill>
        <p:spPr>
          <a:xfrm>
            <a:off x="7200000" y="2304000"/>
            <a:ext cx="900720" cy="838800"/>
          </a:xfrm>
          <a:prstGeom prst="rect">
            <a:avLst/>
          </a:prstGeom>
          <a:ln>
            <a:noFill/>
          </a:ln>
        </p:spPr>
      </p:pic>
      <p:pic>
        <p:nvPicPr>
          <p:cNvPr id="134" name="" descr=""/>
          <p:cNvPicPr/>
          <p:nvPr/>
        </p:nvPicPr>
        <p:blipFill>
          <a:blip r:embed="rId4"/>
          <a:stretch/>
        </p:blipFill>
        <p:spPr>
          <a:xfrm>
            <a:off x="1936440" y="3672000"/>
            <a:ext cx="2319840" cy="2160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spAutoFit/>
          </a:bodyPr>
          <a:p>
            <a:r>
              <a:rPr b="0" lang="lv-LV" sz="2500" spc="-1" strike="noStrike">
                <a:solidFill>
                  <a:srgbClr val="000000"/>
                </a:solidFill>
                <a:latin typeface="Arial"/>
              </a:rPr>
              <a:t>Partition</a:t>
            </a:r>
            <a:endParaRPr b="0" lang="lv-LV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000000"/>
                </a:solidFill>
                <a:latin typeface="Arial"/>
              </a:rPr>
              <a:t>Group table by data (each month in separated partition // table)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000000"/>
                </a:solidFill>
                <a:latin typeface="Arial"/>
              </a:rPr>
              <a:t>Don’t intersect partitions data (only statistic summaries)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000000"/>
                </a:solidFill>
                <a:latin typeface="Arial"/>
              </a:rPr>
              <a:t>Always pick option with balanced data amount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lv-LV" sz="1800" spc="-1" strike="noStrike">
                <a:solidFill>
                  <a:srgbClr val="000000"/>
                </a:solidFill>
                <a:latin typeface="Arial"/>
              </a:rPr>
              <a:t>Use CRC32 (first n symbols) on any field if you have nothing in mind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1512000" y="3214440"/>
            <a:ext cx="2219040" cy="1609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Additional Options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Shape 2"/>
          <p:cNvSpPr txBox="1"/>
          <p:nvPr/>
        </p:nvSpPr>
        <p:spPr>
          <a:xfrm>
            <a:off x="432000" y="11919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Schedulers – runs procedure at specified interval // time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Procedure – executes Queries without result in single transaction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Function – Same as procedure but will return result.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wouldn’t recommend to do many of them. They are hard to debug and can lead to huge deadlocks. Also developers may have magic.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Best to evade ?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Huge table better to not use DROP TABLE or ALTER TABLE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You can create new table sync it with prev then swap tables with Rename.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If you will swap pick right order and check on non prod envs.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migrate existing data after rename (there will be data and time gap can even be big so migrate 1 or 2 weeks is good choice)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Is there any risks on rename  ?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Shape 2"/>
          <p:cNvSpPr txBox="1"/>
          <p:nvPr/>
        </p:nvSpPr>
        <p:spPr>
          <a:xfrm>
            <a:off x="479880" y="11199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during rename there will be moment when there won’t be table.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You can stop production tables.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You can make logic first working for both cases then rename without risk.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7416000" y="324000"/>
            <a:ext cx="1342800" cy="14760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What to do for optimization ?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  <a:spcAft>
                <a:spcPts val="1199"/>
              </a:spcAft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better to just grow structure of tables.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1"/>
          <a:stretch/>
        </p:blipFill>
        <p:spPr>
          <a:xfrm>
            <a:off x="610200" y="2016000"/>
            <a:ext cx="2485800" cy="1456920"/>
          </a:xfrm>
          <a:prstGeom prst="rect">
            <a:avLst/>
          </a:prstGeom>
          <a:ln>
            <a:noFill/>
          </a:ln>
        </p:spPr>
      </p:pic>
      <p:pic>
        <p:nvPicPr>
          <p:cNvPr id="148" name="" descr=""/>
          <p:cNvPicPr/>
          <p:nvPr/>
        </p:nvPicPr>
        <p:blipFill>
          <a:blip r:embed="rId2"/>
          <a:stretch/>
        </p:blipFill>
        <p:spPr>
          <a:xfrm>
            <a:off x="4104000" y="1931400"/>
            <a:ext cx="2638080" cy="1380600"/>
          </a:xfrm>
          <a:prstGeom prst="rect">
            <a:avLst/>
          </a:prstGeom>
          <a:ln>
            <a:noFill/>
          </a:ln>
        </p:spPr>
      </p:pic>
      <p:pic>
        <p:nvPicPr>
          <p:cNvPr id="149" name="" descr=""/>
          <p:cNvPicPr/>
          <p:nvPr/>
        </p:nvPicPr>
        <p:blipFill>
          <a:blip r:embed="rId3"/>
          <a:stretch/>
        </p:blipFill>
        <p:spPr>
          <a:xfrm>
            <a:off x="5904000" y="556920"/>
            <a:ext cx="2390400" cy="11710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What you should know about complex queries.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There are tons of grouping functions like, AI may help with finding right approaches for your case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With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Union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GROUP BY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Distinct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Something Useful about table data grouping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DISTINCT - where possible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GROUP_CONCAT – evade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ORDER BY – only if needed.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Newer skip limiting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4328280" y="1507680"/>
            <a:ext cx="999720" cy="18763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lv-LV" sz="2800" spc="-1" strike="noStrike">
                <a:solidFill>
                  <a:srgbClr val="000000"/>
                </a:solidFill>
                <a:latin typeface="Arial"/>
                <a:ea typeface="Arial"/>
              </a:rPr>
              <a:t>Limiting the query results is important!</a:t>
            </a:r>
            <a:endParaRPr b="0" lang="lv-LV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use always limits on large tables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low records with limits have no harm, huge tables limits saves production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Pagination is best friend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1800" spc="-1" strike="noStrike">
                <a:solidFill>
                  <a:srgbClr val="595959"/>
                </a:solidFill>
                <a:latin typeface="Arial"/>
                <a:ea typeface="Arial"/>
              </a:rPr>
              <a:t>* There are optimizations on page navigations for large tables.</a:t>
            </a:r>
            <a:endParaRPr b="0" lang="lv-LV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3262320" y="2862360"/>
            <a:ext cx="4225680" cy="21823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 fontScale="30000"/>
          </a:bodyPr>
          <a:p>
            <a:pPr>
              <a:lnSpc>
                <a:spcPct val="100000"/>
              </a:lnSpc>
            </a:pPr>
            <a:r>
              <a:rPr b="0" lang="lv-LV" sz="3000" spc="-1" strike="noStrike">
                <a:solidFill>
                  <a:srgbClr val="000000"/>
                </a:solidFill>
                <a:latin typeface="Arial"/>
                <a:ea typeface="Arial"/>
              </a:rPr>
              <a:t>Thanks, for Your time hope You found something useful</a:t>
            </a:r>
            <a:endParaRPr b="0" lang="lv-LV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Shape 2"/>
          <p:cNvSpPr txBox="1"/>
          <p:nvPr/>
        </p:nvSpPr>
        <p:spPr>
          <a:xfrm>
            <a:off x="504000" y="936000"/>
            <a:ext cx="8520120" cy="41040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rmAutofit/>
          </a:bodyPr>
          <a:p>
            <a:pPr>
              <a:lnSpc>
                <a:spcPct val="115000"/>
              </a:lnSpc>
            </a:pPr>
            <a:r>
              <a:rPr b="0" lang="lv-LV" sz="2200" spc="-1" strike="noStrike">
                <a:solidFill>
                  <a:srgbClr val="595959"/>
                </a:solidFill>
                <a:latin typeface="Arial"/>
                <a:ea typeface="Arial"/>
              </a:rPr>
              <a:t>PS if you would like to get deep drive in any of sections you can write them down on paper and drop in box.</a:t>
            </a:r>
            <a:endParaRPr b="0" lang="lv-LV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2200" spc="-1" strike="noStrike">
                <a:solidFill>
                  <a:srgbClr val="595959"/>
                </a:solidFill>
                <a:latin typeface="Arial"/>
                <a:ea typeface="Arial"/>
              </a:rPr>
              <a:t>Training Materials &gt; </a:t>
            </a:r>
            <a:r>
              <a:rPr b="0" lang="lv-LV" sz="22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1"/>
              </a:rPr>
              <a:t>https://github.com/Neznajki/devclub-high-load-db</a:t>
            </a:r>
            <a:endParaRPr b="0" lang="lv-LV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r>
              <a:rPr b="0" lang="lv-LV" sz="2200" spc="-1" strike="noStrike">
                <a:solidFill>
                  <a:srgbClr val="595959"/>
                </a:solidFill>
                <a:latin typeface="Arial"/>
                <a:ea typeface="Arial"/>
              </a:rPr>
              <a:t>If You have questions &gt; </a:t>
            </a:r>
            <a:endParaRPr b="0" lang="lv-LV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427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StarSymbol"/>
              <a:buAutoNum type="arabicPeriod"/>
            </a:pPr>
            <a:r>
              <a:rPr b="0" lang="lv-LV" sz="2200" spc="-1" strike="noStrike" u="sng">
                <a:solidFill>
                  <a:srgbClr val="0097a7"/>
                </a:solidFill>
                <a:uFillTx/>
                <a:latin typeface="Arial"/>
                <a:ea typeface="Arial"/>
                <a:hlinkClick r:id="rId2"/>
              </a:rPr>
              <a:t>https://www.linkedin.com/in/ml-698627181/</a:t>
            </a:r>
            <a:r>
              <a:rPr b="0" lang="lv-LV" sz="2200" spc="-1" strike="noStrike">
                <a:solidFill>
                  <a:srgbClr val="595959"/>
                </a:solidFill>
                <a:latin typeface="Arial"/>
                <a:ea typeface="Arial"/>
              </a:rPr>
              <a:t> </a:t>
            </a:r>
            <a:endParaRPr b="0" lang="lv-LV" sz="2200" spc="-1" strike="noStrike">
              <a:solidFill>
                <a:srgbClr val="000000"/>
              </a:solidFill>
              <a:latin typeface="Arial"/>
            </a:endParaRPr>
          </a:p>
          <a:p>
            <a:pPr marL="457200" indent="-342720">
              <a:lnSpc>
                <a:spcPct val="115000"/>
              </a:lnSpc>
              <a:buClr>
                <a:srgbClr val="595959"/>
              </a:buClr>
              <a:buFont typeface="StarSymbol"/>
              <a:buAutoNum type="arabicPeriod"/>
            </a:pPr>
            <a:r>
              <a:rPr b="0" lang="lv-LV" sz="2200" spc="-1" strike="noStrike">
                <a:solidFill>
                  <a:srgbClr val="595959"/>
                </a:solidFill>
                <a:latin typeface="Arial"/>
                <a:ea typeface="Arial"/>
              </a:rPr>
              <a:t>dev@maris-locmelis.lv</a:t>
            </a:r>
            <a:endParaRPr b="0" lang="lv-LV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Application>Trio_Office/6.2.8.2$Windows_x86 LibreOffice_project/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lv-LV</dc:language>
  <cp:lastModifiedBy/>
  <dcterms:modified xsi:type="dcterms:W3CDTF">2025-12-03T21:04:15Z</dcterms:modified>
  <cp:revision>32</cp:revision>
  <dc:subject/>
  <dc:title/>
</cp:coreProperties>
</file>