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26.xml" ContentType="application/vnd.openxmlformats-officedocument.presentationml.slide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9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0.xml.rels" ContentType="application/vnd.openxmlformats-package.relationships+xml"/>
  <Override PartName="/ppt/slides/_rels/slide21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25.xml.rels" ContentType="application/vnd.openxmlformats-package.relationships+xml"/>
  <Override PartName="/ppt/slides/_rels/slide26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media/image9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9144000" cy="51435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311760" y="301680"/>
            <a:ext cx="8519760" cy="39830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19248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7320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31176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19248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7320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311760" y="301680"/>
            <a:ext cx="8519760" cy="39830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19248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7320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31176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19248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7320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r>
              <a:rPr b="0" lang="lv-LV" sz="1800" spc="-1" strike="noStrike">
                <a:latin typeface="Arial"/>
              </a:rPr>
              <a:t>Click to edit the title text format</a:t>
            </a:r>
            <a:endParaRPr b="0" lang="lv-LV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3200" spc="-1" strike="noStrike">
                <a:latin typeface="Arial"/>
              </a:rPr>
              <a:t>Click to edit the outline text format</a:t>
            </a:r>
            <a:endParaRPr b="0" lang="lv-LV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lv-LV" sz="2800" spc="-1" strike="noStrike">
                <a:latin typeface="Arial"/>
              </a:rPr>
              <a:t>Second Outline Level</a:t>
            </a:r>
            <a:endParaRPr b="0" lang="lv-LV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400" spc="-1" strike="noStrike">
                <a:latin typeface="Arial"/>
              </a:rPr>
              <a:t>Third Outline Level</a:t>
            </a:r>
            <a:endParaRPr b="0" lang="lv-LV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lv-LV" sz="2000" spc="-1" strike="noStrike">
                <a:latin typeface="Arial"/>
              </a:rPr>
              <a:t>Fourth Outline Level</a:t>
            </a:r>
            <a:endParaRPr b="0" lang="lv-LV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000" spc="-1" strike="noStrike">
                <a:latin typeface="Arial"/>
              </a:rPr>
              <a:t>Fifth Outline Level</a:t>
            </a:r>
            <a:endParaRPr b="0" lang="lv-LV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000" spc="-1" strike="noStrike">
                <a:latin typeface="Arial"/>
              </a:rPr>
              <a:t>Sixth Outline Level</a:t>
            </a:r>
            <a:endParaRPr b="0" lang="lv-LV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000" spc="-1" strike="noStrike">
                <a:latin typeface="Arial"/>
              </a:rPr>
              <a:t>Seventh Outline Level</a:t>
            </a:r>
            <a:endParaRPr b="0" lang="lv-LV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r>
              <a:rPr b="0" lang="lv-LV" sz="1800" spc="-1" strike="noStrike">
                <a:latin typeface="Arial"/>
              </a:rPr>
              <a:t>Click to edit the title text format</a:t>
            </a:r>
            <a:endParaRPr b="0" lang="lv-LV" sz="18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latin typeface="Arial"/>
              </a:rPr>
              <a:t>Click to edit the outline text format</a:t>
            </a:r>
            <a:endParaRPr b="0" lang="lv-LV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lv-LV" sz="1800" spc="-1" strike="noStrike">
                <a:latin typeface="Arial"/>
              </a:rPr>
              <a:t>Second Outline Level</a:t>
            </a:r>
            <a:endParaRPr b="0" lang="lv-LV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latin typeface="Arial"/>
              </a:rPr>
              <a:t>Third Outline Level</a:t>
            </a:r>
            <a:endParaRPr b="0" lang="lv-LV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lv-LV" sz="1800" spc="-1" strike="noStrike">
                <a:latin typeface="Arial"/>
              </a:rPr>
              <a:t>Fourth Outline Level</a:t>
            </a:r>
            <a:endParaRPr b="0" lang="lv-LV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latin typeface="Arial"/>
              </a:rPr>
              <a:t>Fifth Outline Level</a:t>
            </a:r>
            <a:endParaRPr b="0" lang="lv-LV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latin typeface="Arial"/>
              </a:rPr>
              <a:t>Sixth Outline Level</a:t>
            </a:r>
            <a:endParaRPr b="0" lang="lv-LV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latin typeface="Arial"/>
              </a:rPr>
              <a:t>Seventh Outline Level</a:t>
            </a:r>
            <a:endParaRPr b="0" lang="lv-LV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hyperlink" Target="https://github.com/Neznajki/devclub-high-load-db" TargetMode="External"/><Relationship Id="rId2" Type="http://schemas.openxmlformats.org/officeDocument/2006/relationships/hyperlink" Target="https://www.linkedin.com/in/ml-698627181/" TargetMode="External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95760" y="744480"/>
            <a:ext cx="8519760" cy="2052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 algn="ctr">
              <a:lnSpc>
                <a:spcPct val="100000"/>
              </a:lnSpc>
            </a:pPr>
            <a:r>
              <a:rPr b="0" lang="lv-LV" sz="5200" spc="-1" strike="noStrike">
                <a:solidFill>
                  <a:srgbClr val="000000"/>
                </a:solidFill>
                <a:latin typeface="Arial"/>
                <a:ea typeface="Arial"/>
              </a:rPr>
              <a:t>High Load System DB</a:t>
            </a:r>
            <a:endParaRPr b="0" lang="lv-LV" sz="5200" spc="-1" strike="noStrike">
              <a:latin typeface="Arial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311760" y="2834280"/>
            <a:ext cx="8519760" cy="792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 algn="ctr">
              <a:lnSpc>
                <a:spcPct val="100000"/>
              </a:lnSpc>
            </a:pPr>
            <a:r>
              <a:rPr b="0" lang="lv-LV" sz="2800" spc="-1" strike="noStrike">
                <a:solidFill>
                  <a:srgbClr val="595959"/>
                </a:solidFill>
                <a:latin typeface="Arial"/>
                <a:ea typeface="Arial"/>
              </a:rPr>
              <a:t>Database problems and some ways to solve them</a:t>
            </a:r>
            <a:endParaRPr b="0" lang="lv-LV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Introduction about me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79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Hello I am Maris Ločmelis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I am full stack developer so don't hit me hard when I miss something.</a:t>
            </a: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What types of DB are there.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SQL, NoSQL, In Memory (redis), SingleFileDB(XML, JSON) ... 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ask chat GPT he will help here.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How High Load is related to Database ?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IT is (Information Technologies).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So DB is main part of industry as it stores Information.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you can't have high load system without information (it will be high waste system).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5091480" y="2569680"/>
            <a:ext cx="2396520" cy="2470320"/>
          </a:xfrm>
          <a:prstGeom prst="rect">
            <a:avLst/>
          </a:prstGeom>
          <a:ln>
            <a:noFill/>
          </a:ln>
        </p:spPr>
      </p:pic>
      <p:pic>
        <p:nvPicPr>
          <p:cNvPr id="85" name="" descr=""/>
          <p:cNvPicPr/>
          <p:nvPr/>
        </p:nvPicPr>
        <p:blipFill>
          <a:blip r:embed="rId2"/>
          <a:stretch/>
        </p:blipFill>
        <p:spPr>
          <a:xfrm>
            <a:off x="144000" y="2592000"/>
            <a:ext cx="4581360" cy="26377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  <a:ea typeface="Arial"/>
              </a:rPr>
              <a:t>More useful info about DB types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Autofit/>
          </a:bodyPr>
          <a:p>
            <a:pPr>
              <a:lnSpc>
                <a:spcPct val="115000"/>
              </a:lnSpc>
            </a:pPr>
            <a:r>
              <a:rPr b="1" lang="lv-LV" sz="1200" spc="-1" strike="noStrike">
                <a:solidFill>
                  <a:srgbClr val="595959"/>
                </a:solidFill>
                <a:latin typeface="Arial"/>
                <a:ea typeface="Arial"/>
              </a:rPr>
              <a:t>ACID vs BASE ACID (traditional SQL databases) Ensures strong consistency and reliability:</a:t>
            </a:r>
            <a:endParaRPr b="0" lang="lv-LV" sz="12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1" lang="lv-LV" sz="1200" spc="-1" strike="noStrike">
                <a:solidFill>
                  <a:srgbClr val="595959"/>
                </a:solidFill>
                <a:latin typeface="Arial"/>
                <a:ea typeface="Arial"/>
              </a:rPr>
              <a:t>(A)tomicity + (C)onsistency + (I)solation + (D)urability</a:t>
            </a:r>
            <a:endParaRPr b="0" lang="lv-LV" sz="12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1" lang="lv-LV" sz="1200" spc="-1" strike="noStrike">
                <a:solidFill>
                  <a:srgbClr val="595959"/>
                </a:solidFill>
                <a:latin typeface="Arial"/>
                <a:ea typeface="Arial"/>
              </a:rPr>
              <a:t>Used by: MySQL, PostgreSQL, Oracle, SQL Server, etc.</a:t>
            </a:r>
            <a:endParaRPr b="0" lang="lv-LV" sz="12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endParaRPr b="0" lang="lv-LV" sz="12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1" lang="lv-LV" sz="1200" spc="-1" strike="noStrike">
                <a:solidFill>
                  <a:srgbClr val="595959"/>
                </a:solidFill>
                <a:latin typeface="Arial"/>
                <a:ea typeface="Arial"/>
              </a:rPr>
              <a:t>BASE (mostly NoSQL / distributed systems) Designed for horizontal scaling and high availability:</a:t>
            </a:r>
            <a:endParaRPr b="0" lang="lv-LV" sz="12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1" lang="lv-LV" sz="1200" spc="-1" strike="noStrike">
                <a:solidFill>
                  <a:srgbClr val="595959"/>
                </a:solidFill>
                <a:latin typeface="Arial"/>
                <a:ea typeface="Arial"/>
              </a:rPr>
              <a:t>(B)asically + (A)vailable + (S)oft-state + (E)ventually consistent</a:t>
            </a:r>
            <a:endParaRPr b="0" lang="lv-LV" sz="12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endParaRPr b="0" lang="lv-LV" sz="12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r>
              <a:rPr b="1" lang="lv-LV" sz="1200" spc="-1" strike="noStrike">
                <a:solidFill>
                  <a:srgbClr val="595959"/>
                </a:solidFill>
                <a:latin typeface="Arial"/>
                <a:ea typeface="Arial"/>
              </a:rPr>
              <a:t>Used by: Cassandra, DynamoDB, Riak, Couchbase, etc.</a:t>
            </a:r>
            <a:endParaRPr b="0" lang="lv-LV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  <a:ea typeface="Arial"/>
              </a:rPr>
              <a:t>Key Problems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89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85000"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1. Hard Drives can give heat (bad sectors &amp; no time to write &amp; during backups) right now, this is not a big problem SSD.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2. Master Slave Replication things (Primary Keys (Long, Int, UUID), scaling data sync).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3. Deadlocks on huge request amount.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4. Cache Memory outage.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5. Temporary tables.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6. Complex Joins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8. Wrong field data types.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90" name="" descr=""/>
          <p:cNvPicPr/>
          <p:nvPr/>
        </p:nvPicPr>
        <p:blipFill>
          <a:blip r:embed="rId1"/>
          <a:stretch/>
        </p:blipFill>
        <p:spPr>
          <a:xfrm>
            <a:off x="4256280" y="2316960"/>
            <a:ext cx="4167720" cy="27968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Index problems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92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Indexes take time to save and can flood your cache (it may result in deadlocks)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Indexes could be sorted.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Huge indexes.</a:t>
            </a: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MySQL data structure, potentially all are similar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94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Usually primary take away and what you should understand picking technology is how DB stores the data I will explain on MySQL example (Other SQL DB like PostgreSQL or Oracle looks similar with some other functions but most will be covered as same.)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ustomShape 1"/>
          <p:cNvSpPr/>
          <p:nvPr/>
        </p:nvSpPr>
        <p:spPr>
          <a:xfrm>
            <a:off x="311760" y="517320"/>
            <a:ext cx="8519760" cy="427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</a:rPr>
              <a:t>MySQL data structure.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96" name="CustomShape 2"/>
          <p:cNvSpPr/>
          <p:nvPr/>
        </p:nvSpPr>
        <p:spPr>
          <a:xfrm>
            <a:off x="288000" y="108000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you describe fields (each field have type and limits on containing value)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97" name="" descr=""/>
          <p:cNvPicPr/>
          <p:nvPr/>
        </p:nvPicPr>
        <p:blipFill>
          <a:blip r:embed="rId1"/>
          <a:stretch/>
        </p:blipFill>
        <p:spPr>
          <a:xfrm>
            <a:off x="2520000" y="1360800"/>
            <a:ext cx="5950800" cy="36788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311760" y="517320"/>
            <a:ext cx="8519760" cy="427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</a:rPr>
              <a:t>MySQL data structure.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Each row reserves maximum field size on drive even if they are null (to jump between rows based on pure math).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Text Fields are storing Pointer to data that besides out of the table (it is optimal but will slow down on writing and filtering texts).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Data is pure math. The more Bytes it takes the more time it takes for all operations</a:t>
            </a: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Indexes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Indexes take time to save and can flood your cache (it may result in deadlock).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Indexes could be sorted.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102" name="" descr=""/>
          <p:cNvPicPr/>
          <p:nvPr/>
        </p:nvPicPr>
        <p:blipFill>
          <a:blip r:embed="rId1"/>
          <a:stretch/>
        </p:blipFill>
        <p:spPr>
          <a:xfrm>
            <a:off x="4104000" y="1609920"/>
            <a:ext cx="3039840" cy="30697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Useful Functions for debugging.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04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SQL usually has multiple ways to debug the application. I may not name everything, but I will touch the best ones.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1. Explain Analyze (Query here)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2. SHOW PROCESSLIST.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3. slow_query_log = 1 // best to log all queries (5-10 minutes) than group analyze total execution time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4. KILL PROCESSID (to identify deadlocked parent, usually the oldest one but not always.)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5. Usually low resources can lead to deadlocks (waiting for the cache to get free, so resource analysis like top can be good also)</a:t>
            </a: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How you could optimize something ?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06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1. The most common and probably the best hotfix is caching results and resetting on change.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2. Templates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3. Create Aggregation tables on complex grouping logic tables (Full Table Scan)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4. Insertion (Batches. Transactions.)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107" name="" descr=""/>
          <p:cNvPicPr/>
          <p:nvPr/>
        </p:nvPicPr>
        <p:blipFill>
          <a:blip r:embed="rId1"/>
          <a:stretch/>
        </p:blipFill>
        <p:spPr>
          <a:xfrm>
            <a:off x="4955760" y="3024000"/>
            <a:ext cx="2675880" cy="14947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34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Use of CRC32  for (varchar // text). Search optimization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09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10" name="Google Shape;110;p22" descr=""/>
          <p:cNvPicPr/>
          <p:nvPr/>
        </p:nvPicPr>
        <p:blipFill>
          <a:blip r:embed="rId1"/>
          <a:stretch/>
        </p:blipFill>
        <p:spPr>
          <a:xfrm>
            <a:off x="311760" y="944640"/>
            <a:ext cx="7422840" cy="1863000"/>
          </a:xfrm>
          <a:prstGeom prst="rect">
            <a:avLst/>
          </a:prstGeom>
          <a:ln>
            <a:noFill/>
          </a:ln>
        </p:spPr>
      </p:pic>
      <p:pic>
        <p:nvPicPr>
          <p:cNvPr id="111" name="Google Shape;111;p22" descr=""/>
          <p:cNvPicPr/>
          <p:nvPr/>
        </p:nvPicPr>
        <p:blipFill>
          <a:blip r:embed="rId2"/>
          <a:stretch/>
        </p:blipFill>
        <p:spPr>
          <a:xfrm>
            <a:off x="311760" y="2808000"/>
            <a:ext cx="6887880" cy="277200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Slow Query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14" name="Google Shape;118;p23" descr=""/>
          <p:cNvPicPr/>
          <p:nvPr/>
        </p:nvPicPr>
        <p:blipFill>
          <a:blip r:embed="rId1"/>
          <a:stretch/>
        </p:blipFill>
        <p:spPr>
          <a:xfrm>
            <a:off x="2448000" y="0"/>
            <a:ext cx="6668640" cy="5111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Create Agregate Table 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116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17" name="" descr=""/>
          <p:cNvPicPr/>
          <p:nvPr/>
        </p:nvPicPr>
        <p:blipFill>
          <a:blip r:embed="rId1"/>
          <a:stretch/>
        </p:blipFill>
        <p:spPr>
          <a:xfrm>
            <a:off x="401040" y="942480"/>
            <a:ext cx="8430480" cy="36518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Insert missing data to agrigate Table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119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0" name="" descr=""/>
          <p:cNvPicPr/>
          <p:nvPr/>
        </p:nvPicPr>
        <p:blipFill>
          <a:blip r:embed="rId1"/>
          <a:stretch/>
        </p:blipFill>
        <p:spPr>
          <a:xfrm>
            <a:off x="1656000" y="864000"/>
            <a:ext cx="6767640" cy="42523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Last Query</a:t>
            </a:r>
            <a:endParaRPr b="0" lang="lv-LV" sz="2500" spc="-1" strike="noStrike">
              <a:latin typeface="Arial"/>
            </a:endParaRPr>
          </a:p>
        </p:txBody>
      </p:sp>
      <p:pic>
        <p:nvPicPr>
          <p:cNvPr id="122" name="" descr=""/>
          <p:cNvPicPr/>
          <p:nvPr/>
        </p:nvPicPr>
        <p:blipFill>
          <a:blip r:embed="rId1"/>
          <a:stretch/>
        </p:blipFill>
        <p:spPr>
          <a:xfrm>
            <a:off x="144000" y="1656000"/>
            <a:ext cx="8957160" cy="1655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What is Large DB ?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24" name="CustomShape 2"/>
          <p:cNvSpPr/>
          <p:nvPr/>
        </p:nvSpPr>
        <p:spPr>
          <a:xfrm>
            <a:off x="216000" y="108000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small DB &lt; 1 GB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1 GB &gt; average DB &lt; 1 TB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1 TB &gt; Big DB &lt; ... (it's hard, but there is a point when it comes to huge)</a:t>
            </a: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What you should expect and do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126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Small DB. Anything should work fine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Average DB. Don’t be fanatic with group logic add master slaves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Large DB. Partitions, optimizations like CRC32 and aggregation tables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Huge DB. Hire Senior DB architect and hope he will do something.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1"/>
          <a:stretch/>
        </p:blipFill>
        <p:spPr>
          <a:xfrm>
            <a:off x="4582080" y="1584000"/>
            <a:ext cx="241560" cy="225000"/>
          </a:xfrm>
          <a:prstGeom prst="rect">
            <a:avLst/>
          </a:prstGeom>
          <a:ln>
            <a:noFill/>
          </a:ln>
        </p:spPr>
      </p:pic>
      <p:pic>
        <p:nvPicPr>
          <p:cNvPr id="128" name="" descr=""/>
          <p:cNvPicPr/>
          <p:nvPr/>
        </p:nvPicPr>
        <p:blipFill>
          <a:blip r:embed="rId2"/>
          <a:stretch/>
        </p:blipFill>
        <p:spPr>
          <a:xfrm>
            <a:off x="7379280" y="1867320"/>
            <a:ext cx="468720" cy="436680"/>
          </a:xfrm>
          <a:prstGeom prst="rect">
            <a:avLst/>
          </a:prstGeom>
          <a:ln>
            <a:noFill/>
          </a:ln>
        </p:spPr>
      </p:pic>
      <p:pic>
        <p:nvPicPr>
          <p:cNvPr id="129" name="" descr=""/>
          <p:cNvPicPr/>
          <p:nvPr/>
        </p:nvPicPr>
        <p:blipFill>
          <a:blip r:embed="rId3"/>
          <a:stretch/>
        </p:blipFill>
        <p:spPr>
          <a:xfrm>
            <a:off x="7992000" y="2520000"/>
            <a:ext cx="900360" cy="838440"/>
          </a:xfrm>
          <a:prstGeom prst="rect">
            <a:avLst/>
          </a:prstGeom>
          <a:ln>
            <a:noFill/>
          </a:ln>
        </p:spPr>
      </p:pic>
      <p:pic>
        <p:nvPicPr>
          <p:cNvPr id="130" name="" descr=""/>
          <p:cNvPicPr/>
          <p:nvPr/>
        </p:nvPicPr>
        <p:blipFill>
          <a:blip r:embed="rId4"/>
          <a:stretch/>
        </p:blipFill>
        <p:spPr>
          <a:xfrm>
            <a:off x="1936440" y="3672000"/>
            <a:ext cx="2319480" cy="2159640"/>
          </a:xfrm>
          <a:prstGeom prst="rect">
            <a:avLst/>
          </a:prstGeom>
          <a:ln>
            <a:noFill/>
          </a:ln>
        </p:spPr>
      </p:pic>
      <p:pic>
        <p:nvPicPr>
          <p:cNvPr id="131" name="" descr=""/>
          <p:cNvPicPr/>
          <p:nvPr/>
        </p:nvPicPr>
        <p:blipFill>
          <a:blip r:embed="rId5"/>
          <a:stretch/>
        </p:blipFill>
        <p:spPr>
          <a:xfrm>
            <a:off x="118440" y="2880000"/>
            <a:ext cx="961560" cy="4280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Partition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Group table by data (each month in separate partition // table)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Don’t intersect partition data (only statistical summaries)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Always pick an option with a balanced data amount.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Use CRC32 (first n symbols) on any field if you have nothing in mind.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134" name="" descr=""/>
          <p:cNvPicPr/>
          <p:nvPr/>
        </p:nvPicPr>
        <p:blipFill>
          <a:blip r:embed="rId1"/>
          <a:stretch/>
        </p:blipFill>
        <p:spPr>
          <a:xfrm>
            <a:off x="1512000" y="3214440"/>
            <a:ext cx="2218680" cy="160920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Additional Options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36" name="CustomShape 2"/>
          <p:cNvSpPr/>
          <p:nvPr/>
        </p:nvSpPr>
        <p:spPr>
          <a:xfrm>
            <a:off x="432000" y="11919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Schedulers – runs procedure at a specified interval // time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Procedure – executes Queries without resulting in a single transaction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Function – Same as procedure but will return result.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wouldn’t recommend doing many of them. They are hard to debug and can lead to huge deadlocks. Also, developers may have magic.</a:t>
            </a: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Best to evade ?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38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Huge table better not to use DROP TABLE or ALTER TABLE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You can create a new table, sync it with prev, then swap tables with Rename.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If you want to swap, pick the right order and check on non-prod envs.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migrate existing data after renaming (there will be data and a time gap can even be big, so migrating 1 or 2 weeks is a good choice)</a:t>
            </a: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Is there any risks on rename  ?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40" name="CustomShape 2"/>
          <p:cNvSpPr/>
          <p:nvPr/>
        </p:nvSpPr>
        <p:spPr>
          <a:xfrm>
            <a:off x="479880" y="11199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during rename there will be moments when there won’t be a table.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You can stop production tables.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You can make logic first work for both cases, then rename without risk.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141" name="" descr=""/>
          <p:cNvPicPr/>
          <p:nvPr/>
        </p:nvPicPr>
        <p:blipFill>
          <a:blip r:embed="rId1"/>
          <a:stretch/>
        </p:blipFill>
        <p:spPr>
          <a:xfrm>
            <a:off x="7416000" y="324000"/>
            <a:ext cx="1342440" cy="1475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What to do for optimization ?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43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  <a:spcAft>
                <a:spcPts val="1199"/>
              </a:spcAft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Better to just grow structure of tables.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144" name="" descr=""/>
          <p:cNvPicPr/>
          <p:nvPr/>
        </p:nvPicPr>
        <p:blipFill>
          <a:blip r:embed="rId1"/>
          <a:stretch/>
        </p:blipFill>
        <p:spPr>
          <a:xfrm>
            <a:off x="610200" y="2016000"/>
            <a:ext cx="2485440" cy="1456560"/>
          </a:xfrm>
          <a:prstGeom prst="rect">
            <a:avLst/>
          </a:prstGeom>
          <a:ln>
            <a:noFill/>
          </a:ln>
        </p:spPr>
      </p:pic>
      <p:pic>
        <p:nvPicPr>
          <p:cNvPr id="145" name="" descr=""/>
          <p:cNvPicPr/>
          <p:nvPr/>
        </p:nvPicPr>
        <p:blipFill>
          <a:blip r:embed="rId2"/>
          <a:stretch/>
        </p:blipFill>
        <p:spPr>
          <a:xfrm>
            <a:off x="4104000" y="1931400"/>
            <a:ext cx="2637720" cy="1380240"/>
          </a:xfrm>
          <a:prstGeom prst="rect">
            <a:avLst/>
          </a:prstGeom>
          <a:ln>
            <a:noFill/>
          </a:ln>
        </p:spPr>
      </p:pic>
      <p:pic>
        <p:nvPicPr>
          <p:cNvPr id="146" name="" descr=""/>
          <p:cNvPicPr/>
          <p:nvPr/>
        </p:nvPicPr>
        <p:blipFill>
          <a:blip r:embed="rId3"/>
          <a:stretch/>
        </p:blipFill>
        <p:spPr>
          <a:xfrm>
            <a:off x="5904000" y="556920"/>
            <a:ext cx="2390040" cy="11707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What you should know about complex queries.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48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There are tons of grouping functions, like AI may help with finding the right approach for your case.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With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Union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GROUP BY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Distinct</a:t>
            </a: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Something Useful about table data grouping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50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DISTINCT — where possible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GROUP_CONCAT – evade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ORDER BY – only if needed.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Newer skip limiting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151" name="" descr=""/>
          <p:cNvPicPr/>
          <p:nvPr/>
        </p:nvPicPr>
        <p:blipFill>
          <a:blip r:embed="rId1"/>
          <a:stretch/>
        </p:blipFill>
        <p:spPr>
          <a:xfrm>
            <a:off x="4328280" y="1507680"/>
            <a:ext cx="999360" cy="187596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Limiting the query results is important!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53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always use limits on large tables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low records with limits have no harm, huge tables limits save production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Pagination is my best friend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* There are optimizations on page navigation for large tables. 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154" name="" descr=""/>
          <p:cNvPicPr/>
          <p:nvPr/>
        </p:nvPicPr>
        <p:blipFill>
          <a:blip r:embed="rId1"/>
          <a:stretch/>
        </p:blipFill>
        <p:spPr>
          <a:xfrm>
            <a:off x="3262320" y="2862360"/>
            <a:ext cx="4225320" cy="218196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30000"/>
          </a:bodyPr>
          <a:p>
            <a:pPr>
              <a:lnSpc>
                <a:spcPct val="100000"/>
              </a:lnSpc>
            </a:pPr>
            <a:r>
              <a:rPr b="0" lang="lv-LV" sz="3000" spc="-1" strike="noStrike">
                <a:solidFill>
                  <a:srgbClr val="000000"/>
                </a:solidFill>
                <a:latin typeface="Arial"/>
                <a:ea typeface="Arial"/>
              </a:rPr>
              <a:t>Thanks for your time. I hope you found something useful. </a:t>
            </a:r>
            <a:endParaRPr b="0" lang="lv-LV" sz="3000" spc="-1" strike="noStrike"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504000" y="936000"/>
            <a:ext cx="8519760" cy="4103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200" spc="-1" strike="noStrike">
                <a:solidFill>
                  <a:srgbClr val="595959"/>
                </a:solidFill>
                <a:latin typeface="Arial"/>
                <a:ea typeface="Arial"/>
              </a:rPr>
              <a:t>PS if you would like to get deep drive in any of the sections, you can write them down on paper and drop them in a box.</a:t>
            </a:r>
            <a:endParaRPr b="0" lang="lv-LV" sz="22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lv-LV" sz="22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200" spc="-1" strike="noStrike">
                <a:solidFill>
                  <a:srgbClr val="595959"/>
                </a:solidFill>
                <a:latin typeface="Arial"/>
                <a:ea typeface="Arial"/>
              </a:rPr>
              <a:t>Training Materials &gt; </a:t>
            </a:r>
            <a:r>
              <a:rPr b="0" lang="lv-LV" sz="2200" spc="-1" strike="noStrike" u="sng">
                <a:solidFill>
                  <a:srgbClr val="0000ff"/>
                </a:solidFill>
                <a:uFillTx/>
                <a:latin typeface="Arial"/>
                <a:ea typeface="Arial"/>
                <a:hlinkClick r:id="rId1"/>
              </a:rPr>
              <a:t>https://github.com/Neznajki/devclub-high-load-db</a:t>
            </a:r>
            <a:endParaRPr b="0" lang="lv-LV" sz="22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2200" spc="-1" strike="noStrike">
                <a:solidFill>
                  <a:srgbClr val="595959"/>
                </a:solidFill>
                <a:latin typeface="Arial"/>
                <a:ea typeface="Arial"/>
              </a:rPr>
              <a:t>If you have questions &gt; </a:t>
            </a:r>
            <a:endParaRPr b="0" lang="lv-LV" sz="22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StarSymbol"/>
              <a:buAutoNum type="arabicPeriod"/>
            </a:pPr>
            <a:r>
              <a:rPr b="0" lang="lv-LV" sz="2200" spc="-1" strike="noStrike" u="sng">
                <a:solidFill>
                  <a:srgbClr val="0000ff"/>
                </a:solidFill>
                <a:uFillTx/>
                <a:latin typeface="Arial"/>
                <a:ea typeface="Arial"/>
                <a:hlinkClick r:id="rId2"/>
              </a:rPr>
              <a:t>https://www.linkedin.com/in/ml-698627181/</a:t>
            </a:r>
            <a:r>
              <a:rPr b="0" lang="lv-LV" sz="2200" spc="-1" strike="noStrike">
                <a:solidFill>
                  <a:srgbClr val="595959"/>
                </a:solidFill>
                <a:latin typeface="Arial"/>
                <a:ea typeface="Arial"/>
              </a:rPr>
              <a:t> </a:t>
            </a:r>
            <a:endParaRPr b="0" lang="lv-LV" sz="22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StarSymbol"/>
              <a:buAutoNum type="arabicPeriod"/>
            </a:pPr>
            <a:r>
              <a:rPr b="0" lang="lv-LV" sz="2200" spc="-1" strike="noStrike">
                <a:solidFill>
                  <a:srgbClr val="595959"/>
                </a:solidFill>
                <a:latin typeface="Arial"/>
                <a:ea typeface="Arial"/>
              </a:rPr>
              <a:t>dev@maris-locmelis.lv</a:t>
            </a:r>
            <a:endParaRPr b="0" lang="lv-LV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</TotalTime>
  <Application>Trio_Office/6.2.8.2$Windows_x86 LibreOffice_project/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lv-LV</dc:language>
  <cp:lastModifiedBy/>
  <dcterms:modified xsi:type="dcterms:W3CDTF">2025-12-04T18:26:55Z</dcterms:modified>
  <cp:revision>67</cp:revision>
  <dc:subject/>
  <dc:title/>
</cp:coreProperties>
</file>