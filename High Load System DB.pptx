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a8fcc516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a8fcc516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a8fcc5160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a8fcc5160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a8fcc5160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a8fcc5160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a8fcc51600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a8fcc5160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a8fcc51600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a8fcc51600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a8fcc51600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a8fcc51600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a8fcc5160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a8fcc5160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a8fcc51600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a8fcc51600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a8fcc51600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a8fcc51600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a8fcc51600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a8fcc51600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a8fcc5160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a8fcc5160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a8fcc51600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a8fcc51600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a8fcc51600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a8fcc51600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a8fcc51600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a8fcc51600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a8fcc51600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a8fcc51600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a8fcc51600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a8fcc51600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a8fcc51600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a8fcc51600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a8fcc51600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a8fcc51600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a8fcc51600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a8fcc51600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github.com/Neznajki/devclub-high-load-db" TargetMode="External"/><Relationship Id="rId4" Type="http://schemas.openxmlformats.org/officeDocument/2006/relationships/hyperlink" Target="https://www.linkedin.com/in/ml-698627181/"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High Load System DB</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Database problems and some ways to solve them</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Introduction</a:t>
            </a:r>
            <a:r>
              <a:rPr lang="en"/>
              <a:t> about me</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Hello I am Maris Ločmelis</a:t>
            </a:r>
            <a:endParaRPr/>
          </a:p>
          <a:p>
            <a:pPr indent="0" lvl="0" marL="0" rtl="0" algn="l">
              <a:spcBef>
                <a:spcPts val="1200"/>
              </a:spcBef>
              <a:spcAft>
                <a:spcPts val="1200"/>
              </a:spcAft>
              <a:buNone/>
            </a:pPr>
            <a:r>
              <a:rPr lang="en"/>
              <a:t>I am full stack developer so don't hit me hard when I miss something.</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types of DB are there.</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SQL, NoSQL, In Memory (redis), SingleFileDB(XML, JSON) ... </a:t>
            </a:r>
            <a:endParaRPr/>
          </a:p>
          <a:p>
            <a:pPr indent="0" lvl="0" marL="0" rtl="0" algn="l">
              <a:spcBef>
                <a:spcPts val="1200"/>
              </a:spcBef>
              <a:spcAft>
                <a:spcPts val="0"/>
              </a:spcAft>
              <a:buNone/>
            </a:pPr>
            <a:r>
              <a:rPr lang="en"/>
              <a:t>ask chat GPT he will help here.</a:t>
            </a:r>
            <a:endParaRPr/>
          </a:p>
          <a:p>
            <a:pPr indent="0" lvl="0" marL="0" rtl="0" algn="l">
              <a:spcBef>
                <a:spcPts val="120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High Load is related to Database ?</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Development is IT (Information Technologies) So DB is main part of industry as it stores Information,</a:t>
            </a:r>
            <a:endParaRPr/>
          </a:p>
          <a:p>
            <a:pPr indent="0" lvl="0" marL="0" rtl="0" algn="l">
              <a:spcBef>
                <a:spcPts val="1200"/>
              </a:spcBef>
              <a:spcAft>
                <a:spcPts val="1200"/>
              </a:spcAft>
              <a:buNone/>
            </a:pPr>
            <a:r>
              <a:rPr lang="en"/>
              <a:t>and you can't have high load system without information (it will be high waste system).</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More </a:t>
            </a:r>
            <a:r>
              <a:rPr lang="en"/>
              <a:t>useful</a:t>
            </a:r>
            <a:r>
              <a:rPr lang="en"/>
              <a:t> info about DB types</a:t>
            </a:r>
            <a:endParaRPr/>
          </a:p>
        </p:txBody>
      </p:sp>
      <p:sp>
        <p:nvSpPr>
          <p:cNvPr id="79" name="Google Shape;79;p17"/>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200"/>
              <a:t>ACID vs BASE ACID (traditional SQL databases) Ensures strong consistency and reliability:</a:t>
            </a:r>
            <a:endParaRPr sz="1200"/>
          </a:p>
          <a:p>
            <a:pPr indent="0" lvl="0" marL="0" rtl="0" algn="l">
              <a:spcBef>
                <a:spcPts val="1200"/>
              </a:spcBef>
              <a:spcAft>
                <a:spcPts val="0"/>
              </a:spcAft>
              <a:buNone/>
            </a:pPr>
            <a:r>
              <a:rPr lang="en" sz="1200"/>
              <a:t>(</a:t>
            </a:r>
            <a:r>
              <a:rPr lang="en" sz="1200"/>
              <a:t>A)tomicity + (C)onsistency + (I)solation + (D)urability</a:t>
            </a:r>
            <a:endParaRPr sz="1200"/>
          </a:p>
          <a:p>
            <a:pPr indent="0" lvl="0" marL="0" rtl="0" algn="l">
              <a:spcBef>
                <a:spcPts val="1200"/>
              </a:spcBef>
              <a:spcAft>
                <a:spcPts val="0"/>
              </a:spcAft>
              <a:buNone/>
            </a:pPr>
            <a:r>
              <a:rPr lang="en" sz="1200"/>
              <a:t>Used by: MySQL, PostgreSQL, Oracle, SQL Server, etc.</a:t>
            </a:r>
            <a:endParaRPr sz="1200"/>
          </a:p>
          <a:p>
            <a:pPr indent="0" lvl="0" marL="0" rtl="0" algn="l">
              <a:spcBef>
                <a:spcPts val="1200"/>
              </a:spcBef>
              <a:spcAft>
                <a:spcPts val="0"/>
              </a:spcAft>
              <a:buNone/>
            </a:pPr>
            <a:r>
              <a:t/>
            </a:r>
            <a:endParaRPr sz="1200"/>
          </a:p>
          <a:p>
            <a:pPr indent="0" lvl="0" marL="0" rtl="0" algn="l">
              <a:spcBef>
                <a:spcPts val="1200"/>
              </a:spcBef>
              <a:spcAft>
                <a:spcPts val="0"/>
              </a:spcAft>
              <a:buNone/>
            </a:pPr>
            <a:r>
              <a:rPr lang="en" sz="1200"/>
              <a:t>BASE (mostly NoSQL / distributed systems) Designed for horizontal scaling and high availability:</a:t>
            </a:r>
            <a:endParaRPr sz="1200"/>
          </a:p>
          <a:p>
            <a:pPr indent="0" lvl="0" marL="0" rtl="0" algn="l">
              <a:spcBef>
                <a:spcPts val="1200"/>
              </a:spcBef>
              <a:spcAft>
                <a:spcPts val="0"/>
              </a:spcAft>
              <a:buNone/>
            </a:pPr>
            <a:r>
              <a:rPr lang="en" sz="1200"/>
              <a:t>(B)asically + (A)vailable + (S)oft-state + (E)ventually consistent</a:t>
            </a:r>
            <a:endParaRPr sz="1200"/>
          </a:p>
          <a:p>
            <a:pPr indent="0" lvl="0" marL="0" rtl="0" algn="l">
              <a:spcBef>
                <a:spcPts val="1200"/>
              </a:spcBef>
              <a:spcAft>
                <a:spcPts val="0"/>
              </a:spcAft>
              <a:buNone/>
            </a:pPr>
            <a:r>
              <a:t/>
            </a:r>
            <a:endParaRPr sz="1200"/>
          </a:p>
          <a:p>
            <a:pPr indent="0" lvl="0" marL="0" rtl="0" algn="l">
              <a:spcBef>
                <a:spcPts val="1200"/>
              </a:spcBef>
              <a:spcAft>
                <a:spcPts val="1200"/>
              </a:spcAft>
              <a:buNone/>
            </a:pPr>
            <a:r>
              <a:rPr lang="en" sz="1200"/>
              <a:t>Used by: Cassandra, DynamoDB, Riak, Couchbase, etc.</a:t>
            </a:r>
            <a:endParaRPr sz="12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Problems</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1. Hard Drives can give a heat (bad sectors // no time to write // during backups) right now not so huge problem due SSD.</a:t>
            </a:r>
            <a:endParaRPr/>
          </a:p>
          <a:p>
            <a:pPr indent="0" lvl="0" marL="0" rtl="0" algn="l">
              <a:spcBef>
                <a:spcPts val="1200"/>
              </a:spcBef>
              <a:spcAft>
                <a:spcPts val="0"/>
              </a:spcAft>
              <a:buNone/>
            </a:pPr>
            <a:r>
              <a:rPr lang="en"/>
              <a:t>2. Master Slave Replication things (Primary Keys (Long, Int, UUID), scaling data sync).</a:t>
            </a:r>
            <a:endParaRPr/>
          </a:p>
          <a:p>
            <a:pPr indent="0" lvl="0" marL="0" rtl="0" algn="l">
              <a:spcBef>
                <a:spcPts val="1200"/>
              </a:spcBef>
              <a:spcAft>
                <a:spcPts val="0"/>
              </a:spcAft>
              <a:buNone/>
            </a:pPr>
            <a:r>
              <a:rPr lang="en"/>
              <a:t>3. Deadlocks on huge request amount.</a:t>
            </a:r>
            <a:endParaRPr/>
          </a:p>
          <a:p>
            <a:pPr indent="0" lvl="0" marL="0" rtl="0" algn="l">
              <a:spcBef>
                <a:spcPts val="1200"/>
              </a:spcBef>
              <a:spcAft>
                <a:spcPts val="0"/>
              </a:spcAft>
              <a:buNone/>
            </a:pPr>
            <a:r>
              <a:rPr lang="en"/>
              <a:t>4. Cache outage.</a:t>
            </a:r>
            <a:endParaRPr/>
          </a:p>
          <a:p>
            <a:pPr indent="0" lvl="0" marL="0" rtl="0" algn="l">
              <a:spcBef>
                <a:spcPts val="1200"/>
              </a:spcBef>
              <a:spcAft>
                <a:spcPts val="0"/>
              </a:spcAft>
              <a:buNone/>
            </a:pPr>
            <a:r>
              <a:rPr lang="en"/>
              <a:t>5. Temporary tables.</a:t>
            </a:r>
            <a:endParaRPr/>
          </a:p>
          <a:p>
            <a:pPr indent="0" lvl="0" marL="0" rtl="0" algn="l">
              <a:spcBef>
                <a:spcPts val="1200"/>
              </a:spcBef>
              <a:spcAft>
                <a:spcPts val="0"/>
              </a:spcAft>
              <a:buNone/>
            </a:pPr>
            <a:r>
              <a:rPr lang="en"/>
              <a:t>6. Complex Joins.</a:t>
            </a:r>
            <a:endParaRPr/>
          </a:p>
          <a:p>
            <a:pPr indent="0" lvl="0" marL="0" rtl="0" algn="l">
              <a:spcBef>
                <a:spcPts val="1200"/>
              </a:spcBef>
              <a:spcAft>
                <a:spcPts val="0"/>
              </a:spcAft>
              <a:buNone/>
            </a:pPr>
            <a:r>
              <a:rPr lang="en"/>
              <a:t>7. Huge indexes.</a:t>
            </a:r>
            <a:endParaRPr/>
          </a:p>
          <a:p>
            <a:pPr indent="0" lvl="0" marL="0" rtl="0" algn="l">
              <a:spcBef>
                <a:spcPts val="1200"/>
              </a:spcBef>
              <a:spcAft>
                <a:spcPts val="1200"/>
              </a:spcAft>
              <a:buNone/>
            </a:pPr>
            <a:r>
              <a:rPr lang="en"/>
              <a:t>8. Wrong field data types.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MySQL data structure, potentially all are similar</a:t>
            </a:r>
            <a:endParaRPr/>
          </a:p>
        </p:txBody>
      </p:sp>
      <p:sp>
        <p:nvSpPr>
          <p:cNvPr id="91" name="Google Shape;91;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55000" lnSpcReduction="20000"/>
          </a:bodyPr>
          <a:lstStyle/>
          <a:p>
            <a:pPr indent="0" lvl="0" marL="0" rtl="0" algn="l">
              <a:spcBef>
                <a:spcPts val="0"/>
              </a:spcBef>
              <a:spcAft>
                <a:spcPts val="0"/>
              </a:spcAft>
              <a:buNone/>
            </a:pPr>
            <a:r>
              <a:rPr lang="en"/>
              <a:t>I selected MySQL DB only as I have most experience there mainly all SQL are more or less same so you can pick patterns from one to another.</a:t>
            </a:r>
            <a:endParaRPr/>
          </a:p>
          <a:p>
            <a:pPr indent="0" lvl="0" marL="0" rtl="0" algn="l">
              <a:spcBef>
                <a:spcPts val="1200"/>
              </a:spcBef>
              <a:spcAft>
                <a:spcPts val="0"/>
              </a:spcAft>
              <a:buNone/>
            </a:pPr>
            <a:r>
              <a:rPr lang="en"/>
              <a:t>difference is syntax or some key features.</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Usually primary take away and what you should understand picking technology is how DB stores the data I will explain on MySQL example</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1. you describe fields (each field have type and limits on containing value)</a:t>
            </a:r>
            <a:endParaRPr/>
          </a:p>
          <a:p>
            <a:pPr indent="0" lvl="0" marL="0" rtl="0" algn="l">
              <a:spcBef>
                <a:spcPts val="1200"/>
              </a:spcBef>
              <a:spcAft>
                <a:spcPts val="0"/>
              </a:spcAft>
              <a:buNone/>
            </a:pPr>
            <a:r>
              <a:rPr lang="en"/>
              <a:t>2. Each row reserves maximum field size on HD even if they are null (to jump between rows based on pure math)</a:t>
            </a:r>
            <a:endParaRPr/>
          </a:p>
          <a:p>
            <a:pPr indent="0" lvl="0" marL="0" rtl="0" algn="l">
              <a:spcBef>
                <a:spcPts val="1200"/>
              </a:spcBef>
              <a:spcAft>
                <a:spcPts val="0"/>
              </a:spcAft>
              <a:buNone/>
            </a:pPr>
            <a:r>
              <a:rPr lang="en"/>
              <a:t>3. Text Fields are storing Pointer to data that besides out of table (it is optimal but will slow down on filtering texts)</a:t>
            </a:r>
            <a:endParaRPr/>
          </a:p>
          <a:p>
            <a:pPr indent="0" lvl="0" marL="0" rtl="0" algn="l">
              <a:spcBef>
                <a:spcPts val="1200"/>
              </a:spcBef>
              <a:spcAft>
                <a:spcPts val="0"/>
              </a:spcAft>
              <a:buNone/>
            </a:pPr>
            <a:r>
              <a:rPr lang="en"/>
              <a:t>4. Indexes takes time to save and can flood your cache (it may result as deadlocks)</a:t>
            </a:r>
            <a:endParaRPr/>
          </a:p>
          <a:p>
            <a:pPr indent="0" lvl="0" marL="0" rtl="0" algn="l">
              <a:spcBef>
                <a:spcPts val="1200"/>
              </a:spcBef>
              <a:spcAft>
                <a:spcPts val="0"/>
              </a:spcAft>
              <a:buNone/>
            </a:pPr>
            <a:r>
              <a:rPr lang="en"/>
              <a:t>5. Indexes should be sorted.</a:t>
            </a:r>
            <a:endParaRPr/>
          </a:p>
          <a:p>
            <a:pPr indent="0" lvl="0" marL="0" rtl="0" algn="l">
              <a:spcBef>
                <a:spcPts val="1200"/>
              </a:spcBef>
              <a:spcAft>
                <a:spcPts val="1200"/>
              </a:spcAft>
              <a:buNone/>
            </a:pPr>
            <a:r>
              <a:rPr lang="en"/>
              <a:t>6. Data is pure math the more Bytes it takes the more time it makes for all operations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Useful</a:t>
            </a:r>
            <a:r>
              <a:rPr lang="en"/>
              <a:t> Functions for debugging.</a:t>
            </a:r>
            <a:endParaRPr/>
          </a:p>
        </p:txBody>
      </p:sp>
      <p:sp>
        <p:nvSpPr>
          <p:cNvPr id="97" name="Google Shape;97;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SQL usually have multiple ways to debug the application I may not name all but I will touch best ones (IMHO).</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1. Explain Analyze (Query here)</a:t>
            </a:r>
            <a:endParaRPr/>
          </a:p>
          <a:p>
            <a:pPr indent="0" lvl="0" marL="0" rtl="0" algn="l">
              <a:spcBef>
                <a:spcPts val="1200"/>
              </a:spcBef>
              <a:spcAft>
                <a:spcPts val="0"/>
              </a:spcAft>
              <a:buNone/>
            </a:pPr>
            <a:r>
              <a:rPr lang="en"/>
              <a:t>2. SHOW PROCESSLIST.</a:t>
            </a:r>
            <a:endParaRPr/>
          </a:p>
          <a:p>
            <a:pPr indent="0" lvl="0" marL="0" rtl="0" algn="l">
              <a:spcBef>
                <a:spcPts val="1200"/>
              </a:spcBef>
              <a:spcAft>
                <a:spcPts val="0"/>
              </a:spcAft>
              <a:buNone/>
            </a:pPr>
            <a:r>
              <a:rPr lang="en"/>
              <a:t>3. slow_query_log = 1 // best to log all queries (5-10 minutes) than group analyze total execution time</a:t>
            </a:r>
            <a:endParaRPr/>
          </a:p>
          <a:p>
            <a:pPr indent="0" lvl="0" marL="0" rtl="0" algn="l">
              <a:spcBef>
                <a:spcPts val="1200"/>
              </a:spcBef>
              <a:spcAft>
                <a:spcPts val="0"/>
              </a:spcAft>
              <a:buNone/>
            </a:pPr>
            <a:r>
              <a:rPr lang="en"/>
              <a:t>4. KILL PROCESSID (to identify deadlock parent usually oldest one but not always.)</a:t>
            </a:r>
            <a:endParaRPr/>
          </a:p>
          <a:p>
            <a:pPr indent="0" lvl="0" marL="0" rtl="0" algn="l">
              <a:spcBef>
                <a:spcPts val="1200"/>
              </a:spcBef>
              <a:spcAft>
                <a:spcPts val="1200"/>
              </a:spcAft>
              <a:buNone/>
            </a:pPr>
            <a:r>
              <a:rPr lang="en"/>
              <a:t>5. Usually low resources can lead to deadlocks (waiting for cache to get free. so resource analyze like top can be good also)</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you could optimize something ?</a:t>
            </a:r>
            <a:endParaRPr/>
          </a:p>
        </p:txBody>
      </p:sp>
      <p:sp>
        <p:nvSpPr>
          <p:cNvPr id="103" name="Google Shape;103;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1. most common and probably best hotfix is caching results and resetting on change</a:t>
            </a:r>
            <a:endParaRPr/>
          </a:p>
          <a:p>
            <a:pPr indent="0" lvl="0" marL="0" rtl="0" algn="l">
              <a:spcBef>
                <a:spcPts val="1200"/>
              </a:spcBef>
              <a:spcAft>
                <a:spcPts val="0"/>
              </a:spcAft>
              <a:buNone/>
            </a:pPr>
            <a:r>
              <a:rPr lang="en"/>
              <a:t>2. If you have many temporary data from multiple tables for any reason you can create templates, after create table spam data than drop table (it will have high speed)</a:t>
            </a:r>
            <a:endParaRPr/>
          </a:p>
          <a:p>
            <a:pPr indent="0" lvl="0" marL="0" rtl="0" algn="l">
              <a:spcBef>
                <a:spcPts val="1200"/>
              </a:spcBef>
              <a:spcAft>
                <a:spcPts val="0"/>
              </a:spcAft>
              <a:buNone/>
            </a:pPr>
            <a:r>
              <a:rPr lang="en"/>
              <a:t>3. If you have complex query multiple joins and huge dataset, and you can't imagine how to make optimal query you can use Aggregation tables. to store necessary data and update right before search (it will remove temp table creation and add persistent data for filters and work within no time)</a:t>
            </a:r>
            <a:endParaRPr/>
          </a:p>
          <a:p>
            <a:pPr indent="0" lvl="0" marL="0" rtl="0" algn="l">
              <a:spcBef>
                <a:spcPts val="1200"/>
              </a:spcBef>
              <a:spcAft>
                <a:spcPts val="1200"/>
              </a:spcAft>
              <a:buNone/>
            </a:pPr>
            <a:r>
              <a:rPr lang="en"/>
              <a:t>4. Insertion (Batches. Transactions.)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CRC32  string // text Optimization</a:t>
            </a:r>
            <a:endParaRPr/>
          </a:p>
        </p:txBody>
      </p:sp>
      <p:sp>
        <p:nvSpPr>
          <p:cNvPr id="109" name="Google Shape;109;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10" name="Google Shape;110;p22"/>
          <p:cNvPicPr preferRelativeResize="0"/>
          <p:nvPr/>
        </p:nvPicPr>
        <p:blipFill>
          <a:blip r:embed="rId3">
            <a:alphaModFix/>
          </a:blip>
          <a:stretch>
            <a:fillRect/>
          </a:stretch>
        </p:blipFill>
        <p:spPr>
          <a:xfrm>
            <a:off x="311688" y="1152463"/>
            <a:ext cx="6638925" cy="1666875"/>
          </a:xfrm>
          <a:prstGeom prst="rect">
            <a:avLst/>
          </a:prstGeom>
          <a:noFill/>
          <a:ln>
            <a:noFill/>
          </a:ln>
        </p:spPr>
      </p:pic>
      <p:pic>
        <p:nvPicPr>
          <p:cNvPr id="111" name="Google Shape;111;p22"/>
          <p:cNvPicPr preferRelativeResize="0"/>
          <p:nvPr/>
        </p:nvPicPr>
        <p:blipFill>
          <a:blip r:embed="rId4">
            <a:alphaModFix/>
          </a:blip>
          <a:stretch>
            <a:fillRect/>
          </a:stretch>
        </p:blipFill>
        <p:spPr>
          <a:xfrm>
            <a:off x="3099525" y="2667925"/>
            <a:ext cx="6004275" cy="24168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Aggregate</a:t>
            </a:r>
            <a:r>
              <a:rPr lang="en"/>
              <a:t> Table</a:t>
            </a:r>
            <a:endParaRPr/>
          </a:p>
        </p:txBody>
      </p:sp>
      <p:sp>
        <p:nvSpPr>
          <p:cNvPr id="117" name="Google Shape;117;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18" name="Google Shape;118;p23"/>
          <p:cNvPicPr preferRelativeResize="0"/>
          <p:nvPr/>
        </p:nvPicPr>
        <p:blipFill>
          <a:blip r:embed="rId3">
            <a:alphaModFix/>
          </a:blip>
          <a:stretch>
            <a:fillRect/>
          </a:stretch>
        </p:blipFill>
        <p:spPr>
          <a:xfrm>
            <a:off x="-1249787" y="970863"/>
            <a:ext cx="6200775" cy="4752975"/>
          </a:xfrm>
          <a:prstGeom prst="rect">
            <a:avLst/>
          </a:prstGeom>
          <a:noFill/>
          <a:ln>
            <a:noFill/>
          </a:ln>
        </p:spPr>
      </p:pic>
      <p:pic>
        <p:nvPicPr>
          <p:cNvPr id="119" name="Google Shape;119;p23"/>
          <p:cNvPicPr preferRelativeResize="0"/>
          <p:nvPr/>
        </p:nvPicPr>
        <p:blipFill>
          <a:blip r:embed="rId4">
            <a:alphaModFix/>
          </a:blip>
          <a:stretch>
            <a:fillRect/>
          </a:stretch>
        </p:blipFill>
        <p:spPr>
          <a:xfrm>
            <a:off x="4449524" y="580350"/>
            <a:ext cx="6132301"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Large DB ?</a:t>
            </a:r>
            <a:endParaRPr/>
          </a:p>
        </p:txBody>
      </p:sp>
      <p:sp>
        <p:nvSpPr>
          <p:cNvPr id="125" name="Google Shape;125;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In reality most of developers think that database that stores 50 tables with 2m rows each is high load db,</a:t>
            </a:r>
            <a:endParaRPr/>
          </a:p>
          <a:p>
            <a:pPr indent="0" lvl="0" marL="0" rtl="0" algn="l">
              <a:spcBef>
                <a:spcPts val="1200"/>
              </a:spcBef>
              <a:spcAft>
                <a:spcPts val="0"/>
              </a:spcAft>
              <a:buNone/>
            </a:pPr>
            <a:r>
              <a:rPr lang="en"/>
              <a:t>but in reality it is not. it's kind a 1 year old kid and if you have problems with this sized db you must learn how to handle data.</a:t>
            </a:r>
            <a:endParaRPr/>
          </a:p>
          <a:p>
            <a:pPr indent="0" lvl="0" marL="0" rtl="0" algn="l">
              <a:spcBef>
                <a:spcPts val="1200"/>
              </a:spcBef>
              <a:spcAft>
                <a:spcPts val="0"/>
              </a:spcAft>
              <a:buNone/>
            </a:pPr>
            <a:r>
              <a:rPr lang="en"/>
              <a:t>real problematic DBs starts at TB and higher usually described above amount it could be 1 minute of server work</a:t>
            </a:r>
            <a:endParaRPr/>
          </a:p>
          <a:p>
            <a:pPr indent="0" lvl="0" marL="0" rtl="0" algn="l">
              <a:spcBef>
                <a:spcPts val="1200"/>
              </a:spcBef>
              <a:spcAft>
                <a:spcPts val="0"/>
              </a:spcAft>
              <a:buNone/>
            </a:pPr>
            <a:r>
              <a:rPr lang="en"/>
              <a:t>Usually such systems have many Slaves many Masters partitions even structures of no single source of truth</a:t>
            </a:r>
            <a:endParaRPr/>
          </a:p>
          <a:p>
            <a:pPr indent="0" lvl="0" marL="0" rtl="0" algn="l">
              <a:spcBef>
                <a:spcPts val="1200"/>
              </a:spcBef>
              <a:spcAft>
                <a:spcPts val="0"/>
              </a:spcAft>
              <a:buNone/>
            </a:pPr>
            <a:r>
              <a:rPr lang="en"/>
              <a:t>In such cases there could be partitions grouped by Client // DateTime // TimePeriod won't dive to deep in this paragraph</a:t>
            </a:r>
            <a:endParaRPr/>
          </a:p>
          <a:p>
            <a:pPr indent="0" lvl="0" marL="0" rtl="0" algn="l">
              <a:spcBef>
                <a:spcPts val="1200"/>
              </a:spcBef>
              <a:spcAft>
                <a:spcPts val="1200"/>
              </a:spcAft>
              <a:buNone/>
            </a:pPr>
            <a:r>
              <a:rPr lang="en"/>
              <a:t>as it will consume all free time and give only a bit more information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Additional Options</a:t>
            </a:r>
            <a:endParaRPr/>
          </a:p>
        </p:txBody>
      </p:sp>
      <p:sp>
        <p:nvSpPr>
          <p:cNvPr id="131" name="Google Shape;131;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Also there are schedulers and procedures and functions to solve complex multi query optimizations</a:t>
            </a:r>
            <a:endParaRPr/>
          </a:p>
          <a:p>
            <a:pPr indent="0" lvl="0" marL="0" rtl="0" algn="l">
              <a:spcBef>
                <a:spcPts val="1200"/>
              </a:spcBef>
              <a:spcAft>
                <a:spcPts val="0"/>
              </a:spcAft>
              <a:buNone/>
            </a:pPr>
            <a:r>
              <a:rPr lang="en"/>
              <a:t>IMHO. if you are full stack try to evade them (they make everything more complex)</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I will point at end url to github with materials there will be some more information.</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hell ?</a:t>
            </a:r>
            <a:endParaRPr/>
          </a:p>
        </p:txBody>
      </p:sp>
      <p:sp>
        <p:nvSpPr>
          <p:cNvPr id="137" name="Google Shape;137;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on huge databases most dangerous are DROP TABLE, ALTER TABLE. it may result in very slow dead end.</a:t>
            </a:r>
            <a:endParaRPr/>
          </a:p>
          <a:p>
            <a:pPr indent="0" lvl="0" marL="0" rtl="0" algn="l">
              <a:spcBef>
                <a:spcPts val="1200"/>
              </a:spcBef>
              <a:spcAft>
                <a:spcPts val="0"/>
              </a:spcAft>
              <a:buNone/>
            </a:pPr>
            <a:r>
              <a:rPr lang="en"/>
              <a:t>always use more valid strategies like (CREATE TABLE A_NEW LIKE A),</a:t>
            </a:r>
            <a:endParaRPr/>
          </a:p>
          <a:p>
            <a:pPr indent="0" lvl="0" marL="0" rtl="0" algn="l">
              <a:spcBef>
                <a:spcPts val="1200"/>
              </a:spcBef>
              <a:spcAft>
                <a:spcPts val="0"/>
              </a:spcAft>
              <a:buNone/>
            </a:pPr>
            <a:r>
              <a:rPr lang="en"/>
              <a:t>optimize new A_NEW. make full structure required by foreign keys like B_new</a:t>
            </a:r>
            <a:endParaRPr/>
          </a:p>
          <a:p>
            <a:pPr indent="0" lvl="0" marL="0" rtl="0" algn="l">
              <a:spcBef>
                <a:spcPts val="1200"/>
              </a:spcBef>
              <a:spcAft>
                <a:spcPts val="0"/>
              </a:spcAft>
              <a:buNone/>
            </a:pPr>
            <a:r>
              <a:rPr lang="en"/>
              <a:t>optimize tables. import data from existing with small limits during huge time period.</a:t>
            </a:r>
            <a:endParaRPr/>
          </a:p>
          <a:p>
            <a:pPr indent="0" lvl="0" marL="0" rtl="0" algn="l">
              <a:spcBef>
                <a:spcPts val="1200"/>
              </a:spcBef>
              <a:spcAft>
                <a:spcPts val="0"/>
              </a:spcAft>
              <a:buNone/>
            </a:pPr>
            <a:r>
              <a:rPr lang="en"/>
              <a:t>launch table renaming A &gt;&gt; A_OLD with all required others, A_NEW &gt;&gt; A</a:t>
            </a:r>
            <a:endParaRPr/>
          </a:p>
          <a:p>
            <a:pPr indent="0" lvl="0" marL="0" rtl="0" algn="l">
              <a:spcBef>
                <a:spcPts val="1200"/>
              </a:spcBef>
              <a:spcAft>
                <a:spcPts val="1200"/>
              </a:spcAft>
              <a:buNone/>
            </a:pPr>
            <a:r>
              <a:rPr lang="en"/>
              <a:t>could also continue migrating records for some time to inherit all data.</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 there any risks on rename  ?</a:t>
            </a:r>
            <a:endParaRPr/>
          </a:p>
        </p:txBody>
      </p:sp>
      <p:sp>
        <p:nvSpPr>
          <p:cNvPr id="143" name="Google Shape;143;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will have problematic gap during renaming you will have magic data losses that needs to be handled</a:t>
            </a:r>
            <a:endParaRPr/>
          </a:p>
          <a:p>
            <a:pPr indent="0" lvl="0" marL="0" rtl="0" algn="l">
              <a:spcBef>
                <a:spcPts val="1200"/>
              </a:spcBef>
              <a:spcAft>
                <a:spcPts val="1200"/>
              </a:spcAft>
              <a:buNone/>
            </a:pPr>
            <a:r>
              <a:rPr lang="en"/>
              <a:t>or stop production server for final sync and renaming table time (5-10 seconds + app boot usually long)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to do for optimization ?</a:t>
            </a:r>
            <a:endParaRPr/>
          </a:p>
        </p:txBody>
      </p:sp>
      <p:sp>
        <p:nvSpPr>
          <p:cNvPr id="149" name="Google Shape;149;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Clr>
                <a:schemeClr val="dk1"/>
              </a:buClr>
              <a:buSzPts val="1100"/>
              <a:buFont typeface="Arial"/>
              <a:buNone/>
            </a:pPr>
            <a:r>
              <a:rPr lang="en"/>
              <a:t>better to just grow structure of tables.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you should know about complex queries.</a:t>
            </a:r>
            <a:endParaRPr/>
          </a:p>
        </p:txBody>
      </p:sp>
      <p:sp>
        <p:nvSpPr>
          <p:cNvPr id="155" name="Google Shape;155;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There are tons of grouping functions like, AI may help with finding right approaches for your case</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With</a:t>
            </a:r>
            <a:endParaRPr/>
          </a:p>
          <a:p>
            <a:pPr indent="0" lvl="0" marL="0" rtl="0" algn="l">
              <a:spcBef>
                <a:spcPts val="1200"/>
              </a:spcBef>
              <a:spcAft>
                <a:spcPts val="0"/>
              </a:spcAft>
              <a:buNone/>
            </a:pPr>
            <a:r>
              <a:rPr lang="en"/>
              <a:t>Union</a:t>
            </a:r>
            <a:endParaRPr/>
          </a:p>
          <a:p>
            <a:pPr indent="0" lvl="0" marL="0" rtl="0" algn="l">
              <a:spcBef>
                <a:spcPts val="1200"/>
              </a:spcBef>
              <a:spcAft>
                <a:spcPts val="0"/>
              </a:spcAft>
              <a:buNone/>
            </a:pPr>
            <a:r>
              <a:rPr lang="en"/>
              <a:t>GROUP BY</a:t>
            </a:r>
            <a:endParaRPr/>
          </a:p>
          <a:p>
            <a:pPr indent="0" lvl="0" marL="0" rtl="0" algn="l">
              <a:spcBef>
                <a:spcPts val="1200"/>
              </a:spcBef>
              <a:spcAft>
                <a:spcPts val="0"/>
              </a:spcAft>
              <a:buNone/>
            </a:pPr>
            <a:r>
              <a:rPr lang="en"/>
              <a:t>Distinct</a:t>
            </a:r>
            <a:endParaRPr/>
          </a:p>
          <a:p>
            <a:pPr indent="0" lvl="0" marL="0" rtl="0" algn="l">
              <a:spcBef>
                <a:spcPts val="1200"/>
              </a:spcBef>
              <a:spcAft>
                <a:spcPts val="120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Something Useful about table data grouping</a:t>
            </a:r>
            <a:endParaRPr/>
          </a:p>
        </p:txBody>
      </p:sp>
      <p:sp>
        <p:nvSpPr>
          <p:cNvPr id="161" name="Google Shape;161;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key takeaway from me would be that You should use them rarely better to use DISTINCT, MAX, ... and things like that</a:t>
            </a:r>
            <a:endParaRPr/>
          </a:p>
          <a:p>
            <a:pPr indent="0" lvl="0" marL="0" rtl="0" algn="l">
              <a:spcBef>
                <a:spcPts val="1200"/>
              </a:spcBef>
              <a:spcAft>
                <a:spcPts val="0"/>
              </a:spcAft>
              <a:buNone/>
            </a:pPr>
            <a:r>
              <a:rPr lang="en"/>
              <a:t>if they are not suiting your need than go to GROUP BY. never use GROUP_CONCAT and things like that.</a:t>
            </a:r>
            <a:endParaRPr/>
          </a:p>
          <a:p>
            <a:pPr indent="0" lvl="0" marL="0" rtl="0" algn="l">
              <a:spcBef>
                <a:spcPts val="1200"/>
              </a:spcBef>
              <a:spcAft>
                <a:spcPts val="0"/>
              </a:spcAft>
              <a:buNone/>
            </a:pPr>
            <a:r>
              <a:rPr lang="en"/>
              <a:t>You will ask why ? it's easy: on huge datasets they may provide wrong info (You can't really rely on them)</a:t>
            </a:r>
            <a:endParaRPr/>
          </a:p>
          <a:p>
            <a:pPr indent="0" lvl="0" marL="0" rtl="0" algn="l">
              <a:spcBef>
                <a:spcPts val="1200"/>
              </a:spcBef>
              <a:spcAft>
                <a:spcPts val="0"/>
              </a:spcAft>
              <a:buNone/>
            </a:pPr>
            <a:r>
              <a:rPr lang="en"/>
              <a:t>There are tons of options how you can utilize GROUP BY but usually it ends up with CREATE Temp table deadlocks.</a:t>
            </a:r>
            <a:endParaRPr/>
          </a:p>
          <a:p>
            <a:pPr indent="0" lvl="0" marL="0" rtl="0" algn="l">
              <a:spcBef>
                <a:spcPts val="1200"/>
              </a:spcBef>
              <a:spcAft>
                <a:spcPts val="1200"/>
              </a:spcAft>
              <a:buNone/>
            </a:pPr>
            <a:r>
              <a:rPr lang="en"/>
              <a:t>huge dataset index locks, complex scenarios where all PKs are blocked due to grouping logic that tries to allocate memory for TMP table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Limiting the query results is important!</a:t>
            </a:r>
            <a:endParaRPr/>
          </a:p>
        </p:txBody>
      </p:sp>
      <p:sp>
        <p:nvSpPr>
          <p:cNvPr id="167" name="Google Shape;167;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Also use record result limiting always. even if you have no grouping, and pick good size of result sets.</a:t>
            </a:r>
            <a:endParaRPr/>
          </a:p>
          <a:p>
            <a:pPr indent="0" lvl="0" marL="0" rtl="0" algn="l">
              <a:spcBef>
                <a:spcPts val="1200"/>
              </a:spcBef>
              <a:spcAft>
                <a:spcPts val="0"/>
              </a:spcAft>
              <a:buNone/>
            </a:pPr>
            <a:r>
              <a:rPr lang="en"/>
              <a:t>in low datasets you will be okay when you are limiting 100 records as you will have 50, in huge it will save your ass right away</a:t>
            </a:r>
            <a:endParaRPr/>
          </a:p>
          <a:p>
            <a:pPr indent="0" lvl="0" marL="0" rtl="0" algn="l">
              <a:spcBef>
                <a:spcPts val="1200"/>
              </a:spcBef>
              <a:spcAft>
                <a:spcPts val="0"/>
              </a:spcAft>
              <a:buNone/>
            </a:pPr>
            <a:r>
              <a:rPr lang="en"/>
              <a:t>also there are Pagination and things like that that won't work with GROUPING logic this may lead to full table scan.</a:t>
            </a:r>
            <a:endParaRPr/>
          </a:p>
          <a:p>
            <a:pPr indent="0" lvl="0" marL="0" rtl="0" algn="l">
              <a:spcBef>
                <a:spcPts val="1200"/>
              </a:spcBef>
              <a:spcAft>
                <a:spcPts val="1200"/>
              </a:spcAft>
              <a:buNone/>
            </a:pPr>
            <a:r>
              <a:rPr lang="en"/>
              <a:t>Optimization of paginations can be like display not all but current page and next page records. (first, 1, 2, 3, 4 [5 selected], 6 ….) … means maybe there are more.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Thanks, for Your time hope You found something useful</a:t>
            </a:r>
            <a:endParaRPr/>
          </a:p>
        </p:txBody>
      </p:sp>
      <p:sp>
        <p:nvSpPr>
          <p:cNvPr id="173" name="Google Shape;173;p32"/>
          <p:cNvSpPr txBox="1"/>
          <p:nvPr>
            <p:ph idx="1" type="body"/>
          </p:nvPr>
        </p:nvSpPr>
        <p:spPr>
          <a:xfrm>
            <a:off x="264850" y="1074400"/>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PS if you would like to get deep drive in any of sections you can write them down on paper and drop in box.</a:t>
            </a:r>
            <a:endParaRPr/>
          </a:p>
          <a:p>
            <a:pPr indent="0" lvl="0" marL="0" rtl="0" algn="l">
              <a:spcBef>
                <a:spcPts val="1200"/>
              </a:spcBef>
              <a:spcAft>
                <a:spcPts val="0"/>
              </a:spcAft>
              <a:buNone/>
            </a:pPr>
            <a:r>
              <a:rPr lang="en"/>
              <a:t>Training Materials &gt; </a:t>
            </a:r>
            <a:r>
              <a:rPr lang="en" u="sng">
                <a:solidFill>
                  <a:schemeClr val="hlink"/>
                </a:solidFill>
                <a:hlinkClick r:id="rId3"/>
              </a:rPr>
              <a:t>https://github.com/Neznajki/devclub-high-load-db</a:t>
            </a:r>
            <a:endParaRPr/>
          </a:p>
          <a:p>
            <a:pPr indent="0" lvl="0" marL="0" rtl="0" algn="l">
              <a:spcBef>
                <a:spcPts val="1200"/>
              </a:spcBef>
              <a:spcAft>
                <a:spcPts val="0"/>
              </a:spcAft>
              <a:buNone/>
            </a:pPr>
            <a:r>
              <a:rPr lang="en"/>
              <a:t>If You have questions &gt; </a:t>
            </a:r>
            <a:endParaRPr/>
          </a:p>
          <a:p>
            <a:pPr indent="-342900" lvl="0" marL="457200" rtl="0" algn="l">
              <a:spcBef>
                <a:spcPts val="1200"/>
              </a:spcBef>
              <a:spcAft>
                <a:spcPts val="0"/>
              </a:spcAft>
              <a:buSzPts val="1800"/>
              <a:buAutoNum type="arabicPeriod"/>
            </a:pPr>
            <a:r>
              <a:rPr lang="en" u="sng">
                <a:solidFill>
                  <a:schemeClr val="hlink"/>
                </a:solidFill>
                <a:hlinkClick r:id="rId4"/>
              </a:rPr>
              <a:t>https://www.linkedin.com/in/ml-698627181/</a:t>
            </a:r>
            <a:r>
              <a:rPr lang="en"/>
              <a:t> </a:t>
            </a:r>
            <a:endParaRPr/>
          </a:p>
          <a:p>
            <a:pPr indent="-342900" lvl="0" marL="457200" rtl="0" algn="l">
              <a:spcBef>
                <a:spcPts val="0"/>
              </a:spcBef>
              <a:spcAft>
                <a:spcPts val="0"/>
              </a:spcAft>
              <a:buSzPts val="1800"/>
              <a:buAutoNum type="arabicPeriod"/>
            </a:pPr>
            <a:r>
              <a:rPr lang="en"/>
              <a:t>dev@maris-locmelis.lv</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